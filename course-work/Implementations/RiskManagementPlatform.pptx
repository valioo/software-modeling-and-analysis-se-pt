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дея" id="{7CF302F8-7F09-4656-FFBA-74CD1E752D64}">
          <p14:sldIdLst>
            <p14:sldId id="256"/>
            <p14:sldId id="257"/>
            <p14:sldId id="258"/>
          </p14:sldIdLst>
        </p14:section>
        <p14:section name="Диаграми" id="{2AD5C4EE-5FA8-9E3B-66C2-F96191FE9C02}">
          <p14:sldIdLst>
            <p14:sldId id="259"/>
            <p14:sldId id="260"/>
          </p14:sldIdLst>
        </p14:section>
        <p14:section name="База и данни" id="{1051EF72-C339-763B-736B-BEEAB110B6D1}">
          <p14:sldIdLst>
            <p14:sldId id="261"/>
            <p14:sldId id="262"/>
            <p14:sldId id="263"/>
            <p14:sldId id="264"/>
            <p14:sldId id="265"/>
          </p14:sldIdLst>
        </p14:section>
        <p14:section name="Data Warehouse" id="{108A8C74-114D-C3E6-3393-FF3B5101EA36}">
          <p14:sldIdLst>
            <p14:sldId id="266"/>
            <p14:sldId id="267"/>
            <p14:sldId id="268"/>
          </p14:sldIdLst>
        </p14:section>
        <p14:section name="Визуализации" id="{F0A2E53F-5473-7859-6BF7-0BC0924AA899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94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Представяме платформа, която оценява риска на всяка финансова транзакция и решава дали тя да продължи, да чака потвърждение или да бъде блокирана.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Платформата стои между клиента и търговеца и оценява всяко плащане. Три части: правила, риск-скор с решение и мониторинг чрез сигнали и опашки.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Целият процес е в SQL Server. Процедурата usp_EvaluateTransaction минава стъпки 2–6; стъпка 7 е тригер при промяна на статуса на сигнала.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Концептуалният модел е в нотация на Chen. Ключовото е връзката много-към-много между сигнал и опашка.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Логическият модел в Crow’s Foot нотация: 11 таблици, 45 атрибута, връзката M:N е с отделна таблица.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Процедурата usp_EvaluateTransaction е сърцето на системата – използва и двете функции. Тригерите пазят коректността на статусите.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Правилата са подредени по тегло. Периодите на активност са в Rule_Availability, затова всяка транзакция се оценява по правилата, валидни в нейния момент.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Една и съща сума точки може да даде различно решение в различни периоди – fn_GetRiskDecision взема праговете, валидни към датата на транзакцията.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Данните са в data.sql, а оценката се пуска с run_evaluation.sql, който вика usp_EvaluateTransaction за всяка транзакция.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Скриптовете се пускат в този ред; подробности има в README.md на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Моделът е fact constellation: пет звезди, които споделят общи измерения. Изискването е минимум 3 факта и 6 измерения.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Тук покажете цялостния модел; при въпроси можете да отворите и страниците със звездите в draw.io.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Четирите решения, с които моделът е по-богат от оперативната база: история, риск на държавите, коректно броене на сигналите и принос на правилата.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Изгледите са допълнение към заданието: Tableau чете готови, денормализирани таблици, а сложните връзки остават в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Първата и последната седмица са непълни, затова стълбовете им са ниски.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Най-честите правила са с ниско тегло – самостоятелно рядко спират транзакция. Тежките правила се задействат по-рядко.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Цветът е средният Total_score на транзакциите към съответната държава.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Тази графика показва връзката много-към-много на практика: сигнали към рискови държави влизат и в основната си опашка, и в AML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Тук се вижда цялата верига на решението: ниво → действие → статус.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Всичко е в папка course-work/Implementations на форка.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13D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lt">
    <p:bg>
      <p:bgPr>
        <a:solidFill>
          <a:srgbClr val="E8E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13D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2F4F0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52"/>
                </a:solidFill>
              </a:rPr>
              <a:t>КУРСОВ ПРОЕКТ · МОДЕЛИРАНЕ И АНАЛИЗ НА СОФТУЕР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2F4F0"/>
                </a:solidFill>
              </a:rPr>
              <a:t>RiskManagementPlatform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00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9D2E3"/>
                </a:solidFill>
              </a:rPr>
              <a:t>Платформа за управление на риска при финансови транзакции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bg-BG" sz="1600" dirty="0" smtClean="0">
                <a:solidFill>
                  <a:srgbClr val="F2F4F0"/>
                </a:solidFill>
              </a:rPr>
              <a:t>Валентин Генчев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D2E3"/>
                </a:solidFill>
              </a:rPr>
              <a:t>ФН </a:t>
            </a:r>
            <a:r>
              <a:rPr lang="bg-BG" sz="1600" dirty="0" smtClean="0">
                <a:solidFill>
                  <a:srgbClr val="C9D2E3"/>
                </a:solidFill>
              </a:rPr>
              <a:t>2401322017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bg-BG" sz="1600" dirty="0" smtClean="0">
                <a:solidFill>
                  <a:srgbClr val="F2F4F0"/>
                </a:solidFill>
              </a:rPr>
              <a:t>Красимир Цветанов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rgbClr val="C9D2E3"/>
                </a:solidFill>
              </a:rPr>
              <a:t>ФН </a:t>
            </a:r>
            <a:r>
              <a:rPr lang="bg-BG" sz="1600" dirty="0" smtClean="0">
                <a:solidFill>
                  <a:srgbClr val="C9D2E3"/>
                </a:solidFill>
              </a:rPr>
              <a:t>2401322024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01 · ИДЕЯ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Щит срещу рискови транзакции за търговците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F4A5A"/>
                </a:solidFill>
              </a:rPr>
              <a:t>Всяка транзакция минава през набор от правила. Точките от задействаните правила определят нивото на риск, а нивото решава дали плащането продължава, чака потвърждение или се блокира.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94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Правила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3434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10 правила с тегла: голяма сума, рискова държава, ново устройство, нощна транзакция и др.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274320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58258" y="306324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58258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58258" y="3794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Риск-скор и решение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658258" y="43434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Сумата от точките се сравнява с праговете, валидни към момента на транзакцията → действие и ниво от 1 до 6.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27797" y="274320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47837" y="306324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47837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447837" y="3794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Сигнали и опашки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447837" y="43434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От ниво 3 нагоре се създава сигнал, който попада в една или повече опашки за анализатори.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01 · ИДЕЯ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Как се оценява една транзакция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2865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F4F0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F4F0"/>
                          </a:solidFill>
                        </a:rPr>
                        <a:t>Стъпка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F4F0"/>
                          </a:solidFill>
                        </a:rPr>
                        <a:t>Какво се случва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F4F0"/>
                          </a:solidFill>
                        </a:rPr>
                        <a:t>Обект в базата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Транзакция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Записва се със статус Pending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[Transaction]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Правила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Изпълняват се правилата, активни към момента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usp_EvaluateTransaction → Rule_Execution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Риск-скор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Сума на точките от задействаните правила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fn_GetTransactionScore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Решение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Действие и ниво по праговете към датата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fn_GetRiskDecision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Статус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Approved / Pending Verification / Under Review / Blocked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Transaction.Status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Сигнал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При ниво ≥ 3: сигнал в една или повече опашки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Alert, Alert_Case_Queue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Преглед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Анализаторът затваря сигнала: Confirmed Fraud → Blocked, False Positive → Approved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trg_Alert_StatusChange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02 · ДИАГРАМИ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Концептуален модел (Chen)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8638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Концептуален модел в нотация на Ch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13232"/>
            <a:ext cx="7644384" cy="36373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737360"/>
            <a:ext cx="2907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13D"/>
                </a:solidFill>
              </a:rPr>
              <a:t>10 същности</a:t>
            </a:r>
            <a:r>
              <a:rPr lang="en-US" sz="1600" dirty="0">
                <a:solidFill>
                  <a:srgbClr val="3F4A5A"/>
                </a:solidFill>
              </a:rPr>
              <a:t> – от Device и Account до Rule, Risk_Score и Action.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13D"/>
                </a:solidFill>
              </a:rPr>
              <a:t>Връзка M:N</a:t>
            </a:r>
            <a:r>
              <a:rPr lang="en-US" sz="1600" dirty="0">
                <a:solidFill>
                  <a:srgbClr val="3F4A5A"/>
                </a:solidFill>
              </a:rPr>
              <a:t> – Alert и Case_Queue чрез Resides_in, с атрибут assigned_at.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13D"/>
                </a:solidFill>
              </a:rPr>
              <a:t>Rule_Execution</a:t>
            </a:r>
            <a:r>
              <a:rPr lang="en-US" sz="1600" dirty="0">
                <a:solidFill>
                  <a:srgbClr val="3F4A5A"/>
                </a:solidFill>
              </a:rPr>
              <a:t> свързва Transaction и Rule – кои правила са оценени и задействани.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02 · ДИАГРАМИ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Логически модел (Crow’s Foot)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Логически модел в нотация Crow’s Fo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18899"/>
            <a:ext cx="5175504" cy="422604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1737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11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таблици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1737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45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атрибута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92640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M:N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969264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Alert ↔ Case_Queue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3291840"/>
            <a:ext cx="5239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13D"/>
                </a:solidFill>
              </a:rPr>
              <a:t>Alert_Case_Queue</a:t>
            </a:r>
            <a:r>
              <a:rPr lang="en-US" sz="1600" dirty="0">
                <a:solidFill>
                  <a:srgbClr val="3F4A5A"/>
                </a:solidFill>
              </a:rPr>
              <a:t> реализира връзката много-към-много: съставен ключ (Alert_Id, Queue_Id) и колона Assigned_at.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F4A5A"/>
                </a:solidFill>
              </a:rPr>
              <a:t>Изискванията – минимум 8 обекта, 30 атрибута и една връзка M:N – са покрити.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03 · БАЗА И ДАННИ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Логиката живее в SQL Server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224028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Обект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Тип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Роля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fn_GetTransactionScore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Скаларна функция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Сума на точките от задействаните правила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fn_GetRiskDecision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Таблична функция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Скор + дата → действие и ниво на риск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usp_EvaluateTransaction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Процедура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Пълна оценка: правила → скор → статус → сигнал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usp_AddRiskThreshold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Процедура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Нов праг с валидация, без припокриване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trg_Alert_StatusChange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Тригер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Валидни статуси; затваряне → Blocked / Approved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trg_AlertCaseQueue_Insert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Тригер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Само активна опашка; New → Assigned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По 2 функции, 2 процедури и 2 тригера – колкото изисква заданието.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03 · БАЗА И ДАННИ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10 правила с тегла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318516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4F0"/>
                          </a:solidFill>
                        </a:rPr>
                        <a:t>Правило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2F4F0"/>
                          </a:solidFill>
                        </a:rPr>
                        <a:t>Точки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4F0"/>
                          </a:solidFill>
                        </a:rPr>
                        <a:t>Условие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Large Amount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сума ≥ 10 000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High-Risk Destination Country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държава получател от рисковия списък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Structuring Pattern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9 000 ≤ сума &lt; 10 000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Rapid Succession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≥ 2 по-ранни транзакции в последните 10 мин.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Amount Spike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≥ 3 предишни и сума &gt; 5 × средната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New Device for Account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сметката има история, устройството е ново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Weekend High Value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събота/неделя и сума ≥ 3 000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Cross-Border Transfer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държава изпращач ≠ държава получател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Night-time Transaction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час на транзакцията &lt; 5:00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Round Amount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сума ≥ 1 000 и кратна на 1 000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4"/>
                </a:solidFill>
              </a:rPr>
              <a:t>Кога е активно всяко правило, се определя от Rule_Availability – напр. Weekend High Value има два отделни периода.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03 · БАЗА И ДАННИ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От точки до решение: 6 нива на риск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2240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Ниво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Точки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Действие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Статус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Сигнал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0 – 19.99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Approve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Approved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не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20 – 34.99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Approve and Notify Customer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Approved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не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35 – 49.99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Step-up Authentication (OTP)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Pending Verification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да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50 – 69.99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Hold for Manual Review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Under Review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да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70 – 99.99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Block Transaction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Blocked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да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100 +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Block and Freeze Account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Blocked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да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Праговете са исторически (Valid_from / Valid_to): до 30.06.2026 важи старата конфигурация с 3 нива, от 01.07.2026 – новата с 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03 · БАЗА И ДАННИ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Примерни данни: </a:t>
            </a:r>
            <a:r>
              <a:rPr lang="en-US" sz="3200" b="1" dirty="0" err="1">
                <a:solidFill>
                  <a:srgbClr val="14213D"/>
                </a:solidFill>
              </a:rPr>
              <a:t>август</a:t>
            </a:r>
            <a:r>
              <a:rPr lang="en-US" sz="3200" b="1" dirty="0">
                <a:solidFill>
                  <a:srgbClr val="14213D"/>
                </a:solidFill>
              </a:rPr>
              <a:t> </a:t>
            </a:r>
            <a:r>
              <a:rPr lang="bg-BG" sz="3200" b="1" dirty="0" smtClean="0">
                <a:solidFill>
                  <a:srgbClr val="14213D"/>
                </a:solidFill>
              </a:rPr>
              <a:t>-</a:t>
            </a:r>
            <a:r>
              <a:rPr lang="en-US" sz="3200" b="1" dirty="0" smtClean="0">
                <a:solidFill>
                  <a:srgbClr val="14213D"/>
                </a:solidFill>
              </a:rPr>
              <a:t> </a:t>
            </a:r>
            <a:r>
              <a:rPr lang="en-US" sz="3200" b="1" dirty="0">
                <a:solidFill>
                  <a:srgbClr val="14213D"/>
                </a:solidFill>
              </a:rPr>
              <a:t>октомври 2026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350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транзакции в 4 валути и 20+ държави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8218" y="164592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58258" y="17830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</a:rPr>
              <a:t>60 / 40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58258" y="25146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сметки / устройства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27797" y="164592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47837" y="17830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</a:rPr>
              <a:t>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447837" y="25146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опашки, една от тях неактивна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65760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</a:rPr>
              <a:t>3 243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3891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изпълнения на правила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58258" y="365760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36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4658258" y="43891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сигнала (ниво ≥ 3)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47837" y="365760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</a:rPr>
              <a:t>49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8447837" y="43891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поставяния в опашки (M:N)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F4A5A"/>
                </a:solidFill>
              </a:rPr>
              <a:t>След оценката: </a:t>
            </a:r>
            <a:r>
              <a:rPr lang="en-US" sz="1600" b="1" dirty="0">
                <a:solidFill>
                  <a:srgbClr val="14213D"/>
                </a:solidFill>
              </a:rPr>
              <a:t>314</a:t>
            </a:r>
            <a:r>
              <a:rPr lang="en-US" sz="1600" dirty="0">
                <a:solidFill>
                  <a:srgbClr val="3F4A5A"/>
                </a:solidFill>
              </a:rPr>
              <a:t> одобрени · </a:t>
            </a:r>
            <a:r>
              <a:rPr lang="en-US" sz="1600" b="1" dirty="0">
                <a:solidFill>
                  <a:srgbClr val="14213D"/>
                </a:solidFill>
              </a:rPr>
              <a:t>9</a:t>
            </a:r>
            <a:r>
              <a:rPr lang="en-US" sz="1600" dirty="0">
                <a:solidFill>
                  <a:srgbClr val="3F4A5A"/>
                </a:solidFill>
              </a:rPr>
              <a:t> чакат потвърждение · </a:t>
            </a:r>
            <a:r>
              <a:rPr lang="en-US" sz="1600" b="1" dirty="0">
                <a:solidFill>
                  <a:srgbClr val="14213D"/>
                </a:solidFill>
              </a:rPr>
              <a:t>18</a:t>
            </a:r>
            <a:r>
              <a:rPr lang="en-US" sz="1600" dirty="0">
                <a:solidFill>
                  <a:srgbClr val="3F4A5A"/>
                </a:solidFill>
              </a:rPr>
              <a:t> на ръчен преглед · </a:t>
            </a:r>
            <a:r>
              <a:rPr lang="en-US" sz="1600" b="1" dirty="0">
                <a:solidFill>
                  <a:srgbClr val="14213D"/>
                </a:solidFill>
              </a:rPr>
              <a:t>9</a:t>
            </a:r>
            <a:r>
              <a:rPr lang="en-US" sz="1600" dirty="0">
                <a:solidFill>
                  <a:srgbClr val="3F4A5A"/>
                </a:solidFill>
              </a:rPr>
              <a:t> блокирани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03 · БАЗА И ДАННИ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Схемата в SQL Server и как се пуска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406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Диаграма на базата RiskManagementPlatform от SS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21850"/>
            <a:ext cx="7187184" cy="39915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21040" y="17373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Ред на изпълнение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2286000"/>
            <a:ext cx="3319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create_db_tables.sql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functions.sql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stored-procedures.sql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triggers.sql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run_evaluation.sql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04 · DATA WAREHOUSE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5 таблици на фактите, 11 измерения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19202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Таблица на фактите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1 ред =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4F0"/>
                          </a:solidFill>
                        </a:rPr>
                        <a:t>Основни показатели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Fact_Transaction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 транзакция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сума, риск-скор, Is_blocked, Is_alerted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Fact_Rule_Execution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 правило върху 1 транзакция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точки, Is_triggered, Score_share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Fact_Alert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 сигнал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сума, риск-скор, водещо правило, брой опашки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Fact_Alert_Queue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 сигнал в 1 опашка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приоритет на опашката, брой поставяния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Fact_Daily_Account_Activity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 сметка за 1 ден в 1 валута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брой, суми, блокирани, сигнали, нощни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937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Измерения: </a:t>
            </a:r>
            <a:r>
              <a:rPr lang="en-US" sz="1500" dirty="0">
                <a:solidFill>
                  <a:srgbClr val="3F4A5A"/>
                </a:solidFill>
              </a:rPr>
              <a:t>Date · Time · Account · Device · Currency · Country · Country_Risk · Rule (SCD2) · Risk_Level (SCD2) · Case_Queue · Status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04 · DATA WAREHOUSE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Физически модел (UML database notation)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737360"/>
            <a:ext cx="2907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13D"/>
                </a:solidFill>
              </a:rPr>
              <a:t>Сини</a:t>
            </a:r>
            <a:r>
              <a:rPr lang="en-US" sz="1600" dirty="0">
                <a:solidFill>
                  <a:srgbClr val="3F4A5A"/>
                </a:solidFill>
              </a:rPr>
              <a:t> таблици – факти, зелени – измерения.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F4A5A"/>
                </a:solidFill>
              </a:rPr>
              <a:t>Цветът на връзката показва от кой факт излиза.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F4A5A"/>
                </a:solidFill>
              </a:rPr>
              <a:t>В draw.io файла има и отделна звезда за всеки факт.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601" y="1645920"/>
            <a:ext cx="5778560" cy="46114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04 · DATA WAREHOUSE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Решения в модела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41004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92024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История на промените (SCD2)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68880"/>
            <a:ext cx="476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Dim_Rule и Dim_Risk_Level пазят всяка версия – транзакцията сочи към правилата и праговете, валидни в нейния момент.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33008" y="1645920"/>
            <a:ext cx="541004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3048" y="192024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Риск на държавите във времето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53048" y="2468880"/>
            <a:ext cx="476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Dim_Country_Risk е отделно от Dim_Country: ако държава спре да е рискова, старите транзакции остават коректно отбелязани.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541004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20624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Сигнали без двойно броене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54880"/>
            <a:ext cx="476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Fact_Alert пази сумата и точките веднъж на сигнал; Fact_Alert_Queue пази връзката M:N с опашките.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3931920"/>
            <a:ext cx="541004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53048" y="420624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Принос на всяко правило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53048" y="4754880"/>
            <a:ext cx="476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Score_share показва какъв дял от риска на транзакцията се дължи на правилото – не само колко често се задейства.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52"/>
                </a:solidFill>
              </a:rPr>
              <a:t>05 · ВИЗУАЛИЗАЦИИ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2F4F0"/>
                </a:solidFill>
              </a:rPr>
              <a:t>От базата до доклада в Tableau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259254" cy="13716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9525">
            <a:solidFill>
              <a:srgbClr val="3345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2860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52"/>
                </a:solidFill>
              </a:rPr>
              <a:t>1 · SQL изгледи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tableau_views.sql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45054" y="2560320"/>
            <a:ext cx="411480" cy="274320"/>
          </a:xfrm>
          <a:prstGeom prst="rightArrow">
            <a:avLst/>
          </a:prstGeom>
          <a:solidFill>
            <a:srgbClr val="F59E52"/>
          </a:solidFill>
          <a:ln w="12700">
            <a:solidFill>
              <a:srgbClr val="F59E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93694" y="2011680"/>
            <a:ext cx="2259254" cy="13716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9525">
            <a:solidFill>
              <a:srgbClr val="3345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76574" y="22860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52"/>
                </a:solidFill>
              </a:rPr>
              <a:t>2 · Износ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676574" y="27432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export_csv.ps1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90108" y="2560320"/>
            <a:ext cx="411480" cy="274320"/>
          </a:xfrm>
          <a:prstGeom prst="rightArrow">
            <a:avLst/>
          </a:prstGeom>
          <a:solidFill>
            <a:srgbClr val="F59E52"/>
          </a:solidFill>
          <a:ln w="12700">
            <a:solidFill>
              <a:srgbClr val="F59E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38748" y="2011680"/>
            <a:ext cx="2259254" cy="13716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9525">
            <a:solidFill>
              <a:srgbClr val="3345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1628" y="22860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52"/>
                </a:solidFill>
              </a:rPr>
              <a:t>3 · CSV файлове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21628" y="27432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таблици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35161" y="2560320"/>
            <a:ext cx="411480" cy="274320"/>
          </a:xfrm>
          <a:prstGeom prst="rightArrow">
            <a:avLst/>
          </a:prstGeom>
          <a:solidFill>
            <a:srgbClr val="F59E52"/>
          </a:solidFill>
          <a:ln w="12700">
            <a:solidFill>
              <a:srgbClr val="F59E5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83801" y="2011680"/>
            <a:ext cx="2259254" cy="13716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9525">
            <a:solidFill>
              <a:srgbClr val="3345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66681" y="22860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52"/>
                </a:solidFill>
              </a:rPr>
              <a:t>4 · Tableau Public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566681" y="2743200"/>
            <a:ext cx="1893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Visualizations.twb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931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2E3"/>
                </a:solidFill>
              </a:rPr>
              <a:t>Tableau Public не се свързва директно към SQL Server, затова данните минават през CSV. Изгледите подготвят три таблици – Transactions, Rule_Executions и Alert_Queues – свързани в Tableau по Transaction_Id.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05 · ВИЗУАЛИЗАЦИИ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Транзакции по седмици и статус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8638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Брой транзакции по седмици, оцветени по стату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08564"/>
            <a:ext cx="7644384" cy="40467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737360"/>
            <a:ext cx="2907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13D"/>
                </a:solidFill>
              </a:rPr>
              <a:t>314 от 350</a:t>
            </a:r>
            <a:r>
              <a:rPr lang="en-US" sz="1600" dirty="0">
                <a:solidFill>
                  <a:srgbClr val="3F4A5A"/>
                </a:solidFill>
              </a:rPr>
              <a:t> транзакции се одобряват автоматично.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 err="1">
                <a:solidFill>
                  <a:srgbClr val="3F4A5A"/>
                </a:solidFill>
              </a:rPr>
              <a:t>Спрените</a:t>
            </a:r>
            <a:r>
              <a:rPr lang="en-US" sz="1600" dirty="0">
                <a:solidFill>
                  <a:srgbClr val="3F4A5A"/>
                </a:solidFill>
              </a:rPr>
              <a:t> </a:t>
            </a:r>
            <a:r>
              <a:rPr lang="bg-BG" sz="1600" dirty="0" smtClean="0">
                <a:solidFill>
                  <a:srgbClr val="3F4A5A"/>
                </a:solidFill>
              </a:rPr>
              <a:t>-</a:t>
            </a:r>
            <a:r>
              <a:rPr lang="en-US" sz="1600" dirty="0" smtClean="0">
                <a:solidFill>
                  <a:srgbClr val="3F4A5A"/>
                </a:solidFill>
              </a:rPr>
              <a:t> </a:t>
            </a:r>
            <a:r>
              <a:rPr lang="en-US" sz="1600" dirty="0">
                <a:solidFill>
                  <a:srgbClr val="3F4A5A"/>
                </a:solidFill>
              </a:rPr>
              <a:t>за потвърждение, ръчен преглед или </a:t>
            </a:r>
            <a:r>
              <a:rPr lang="en-US" sz="1600" dirty="0" err="1">
                <a:solidFill>
                  <a:srgbClr val="3F4A5A"/>
                </a:solidFill>
              </a:rPr>
              <a:t>блокирани</a:t>
            </a:r>
            <a:r>
              <a:rPr lang="en-US" sz="1600" dirty="0">
                <a:solidFill>
                  <a:srgbClr val="3F4A5A"/>
                </a:solidFill>
              </a:rPr>
              <a:t> </a:t>
            </a:r>
            <a:r>
              <a:rPr lang="bg-BG" sz="1600" dirty="0" smtClean="0">
                <a:solidFill>
                  <a:srgbClr val="3F4A5A"/>
                </a:solidFill>
              </a:rPr>
              <a:t>-</a:t>
            </a:r>
            <a:r>
              <a:rPr lang="en-US" sz="1600" dirty="0" smtClean="0">
                <a:solidFill>
                  <a:srgbClr val="3F4A5A"/>
                </a:solidFill>
              </a:rPr>
              <a:t> </a:t>
            </a:r>
            <a:r>
              <a:rPr lang="en-US" sz="1600" dirty="0">
                <a:solidFill>
                  <a:srgbClr val="3F4A5A"/>
                </a:solidFill>
              </a:rPr>
              <a:t>се появяват през целия </a:t>
            </a:r>
            <a:r>
              <a:rPr lang="en-US" sz="1600" dirty="0" err="1">
                <a:solidFill>
                  <a:srgbClr val="3F4A5A"/>
                </a:solidFill>
              </a:rPr>
              <a:t>период</a:t>
            </a:r>
            <a:r>
              <a:rPr lang="en-US" sz="1600" dirty="0" smtClean="0">
                <a:solidFill>
                  <a:srgbClr val="3F4A5A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05 · ВИЗУАЛИЗАЦИИ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Най-често задействани правила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94415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Брой задействания на всяко правило, оцветени по среден дял в риск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6490"/>
            <a:ext cx="10874959" cy="25792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754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78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New Device for Account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017520" y="4754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73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301752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Cross-Border Transfer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0" y="4754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28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Night-time Transaction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507492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Цветът е средният дял на правилото в риска на транзакцията (Score_share).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05 · ВИЗУАЛИЗАЦИИ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Среден риск по държава на получаване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8638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Карта: държавите на получаване, оцветени по среден риск-ско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17450"/>
            <a:ext cx="7644384" cy="40289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737360"/>
            <a:ext cx="2907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F4A5A"/>
                </a:solidFill>
              </a:rPr>
              <a:t>Най-тъмни са държавите от рисковия </a:t>
            </a:r>
            <a:r>
              <a:rPr lang="en-US" sz="1600" dirty="0" err="1">
                <a:solidFill>
                  <a:srgbClr val="3F4A5A"/>
                </a:solidFill>
              </a:rPr>
              <a:t>списък</a:t>
            </a:r>
            <a:r>
              <a:rPr lang="en-US" sz="1600" dirty="0">
                <a:solidFill>
                  <a:srgbClr val="3F4A5A"/>
                </a:solidFill>
              </a:rPr>
              <a:t> </a:t>
            </a:r>
            <a:r>
              <a:rPr lang="bg-BG" sz="1600" dirty="0" smtClean="0">
                <a:solidFill>
                  <a:srgbClr val="3F4A5A"/>
                </a:solidFill>
              </a:rPr>
              <a:t>-</a:t>
            </a:r>
            <a:r>
              <a:rPr lang="en-US" sz="1600" dirty="0" smtClean="0">
                <a:solidFill>
                  <a:srgbClr val="3F4A5A"/>
                </a:solidFill>
              </a:rPr>
              <a:t> </a:t>
            </a:r>
            <a:r>
              <a:rPr lang="en-US" sz="1600" dirty="0">
                <a:solidFill>
                  <a:srgbClr val="3F4A5A"/>
                </a:solidFill>
              </a:rPr>
              <a:t>там се задейства High-Risk Destination Country (+25 точки).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F4A5A"/>
                </a:solidFill>
              </a:rPr>
              <a:t>Повечето плащания остават в България и ЕС с нисък среден риск.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05 · ВИЗУАЛИЗАЦИИ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Сигнали по опашки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94415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Брой различни сигнали във всяка опашка, оцветени по статус на транзакцият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8582"/>
            <a:ext cx="10874959" cy="17520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C2410C"/>
                </a:solidFill>
              </a:rPr>
              <a:t>36 </a:t>
            </a:r>
            <a:r>
              <a:rPr lang="bg-BG" sz="4000" b="1" dirty="0" smtClean="0">
                <a:solidFill>
                  <a:srgbClr val="C2410C"/>
                </a:solidFill>
              </a:rPr>
              <a:t>-&gt;</a:t>
            </a:r>
            <a:r>
              <a:rPr lang="en-US" sz="4000" b="1" dirty="0" smtClean="0">
                <a:solidFill>
                  <a:srgbClr val="C2410C"/>
                </a:solidFill>
              </a:rPr>
              <a:t> </a:t>
            </a:r>
            <a:r>
              <a:rPr lang="en-US" sz="4000" b="1" dirty="0">
                <a:solidFill>
                  <a:srgbClr val="C2410C"/>
                </a:solidFill>
              </a:rPr>
              <a:t>49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A5A"/>
                </a:solidFill>
              </a:rPr>
              <a:t>36 сигнала, поставени общо 49 пъти в опашки – 13 от тях отиват и в AML Screening.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4160520"/>
            <a:ext cx="533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Броене при M:N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4754880"/>
            <a:ext cx="5330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A5A"/>
                </a:solidFill>
              </a:rPr>
              <a:t>Един сигнал може да е в няколко опашки, затова броим с COUNTD(</a:t>
            </a:r>
            <a:r>
              <a:rPr lang="en-US" sz="1500" dirty="0" err="1">
                <a:solidFill>
                  <a:srgbClr val="3F4A5A"/>
                </a:solidFill>
              </a:rPr>
              <a:t>Alert_Id</a:t>
            </a:r>
            <a:r>
              <a:rPr lang="en-US" sz="1500" dirty="0" smtClean="0">
                <a:solidFill>
                  <a:srgbClr val="3F4A5A"/>
                </a:solidFill>
              </a:rPr>
              <a:t>)(</a:t>
            </a:r>
            <a:r>
              <a:rPr lang="bg-BG" sz="1500" dirty="0" smtClean="0">
                <a:solidFill>
                  <a:srgbClr val="3F4A5A"/>
                </a:solidFill>
              </a:rPr>
              <a:t>уникалните</a:t>
            </a:r>
            <a:r>
              <a:rPr lang="en-US" sz="1500" dirty="0" smtClean="0">
                <a:solidFill>
                  <a:srgbClr val="3F4A5A"/>
                </a:solidFill>
              </a:rPr>
              <a:t>), </a:t>
            </a:r>
            <a:r>
              <a:rPr lang="en-US" sz="1500" dirty="0">
                <a:solidFill>
                  <a:srgbClr val="3F4A5A"/>
                </a:solidFill>
              </a:rPr>
              <a:t>а не с обикновен брой.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</a:rPr>
              <a:t>05 · ВИЗУАЛИЗАЦИИ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Разпределение по ниво на риск и действие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8638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2D8CD"/>
            </a:solidFill>
            <a:prstDash val="solid"/>
          </a:ln>
        </p:spPr>
      </p:sp>
      <p:pic>
        <p:nvPicPr>
          <p:cNvPr id="6" name="Image 0" descr="Брой транзакции по ниво на риск от 1 до 6, оцветени по действи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21080"/>
            <a:ext cx="7644384" cy="402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737360"/>
            <a:ext cx="2907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13D"/>
                </a:solidFill>
              </a:rPr>
              <a:t>280</a:t>
            </a:r>
            <a:r>
              <a:rPr lang="en-US" sz="1600" dirty="0">
                <a:solidFill>
                  <a:srgbClr val="3F4A5A"/>
                </a:solidFill>
              </a:rPr>
              <a:t> транзакции са ниво 1 и се одобряват без намеса.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F4A5A"/>
                </a:solidFill>
              </a:rPr>
              <a:t>Нивата 3 </a:t>
            </a:r>
            <a:r>
              <a:rPr lang="bg-BG" sz="1600" dirty="0" smtClean="0">
                <a:solidFill>
                  <a:srgbClr val="3F4A5A"/>
                </a:solidFill>
              </a:rPr>
              <a:t>до</a:t>
            </a:r>
            <a:r>
              <a:rPr lang="en-US" sz="1600" dirty="0" smtClean="0">
                <a:solidFill>
                  <a:srgbClr val="3F4A5A"/>
                </a:solidFill>
              </a:rPr>
              <a:t> </a:t>
            </a:r>
            <a:r>
              <a:rPr lang="en-US" sz="1600" dirty="0">
                <a:solidFill>
                  <a:srgbClr val="3F4A5A"/>
                </a:solidFill>
              </a:rPr>
              <a:t>6 създават сигнал: 36 транзакции, от които 9 са блокирани.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52"/>
                </a:solidFill>
              </a:rPr>
              <a:t>RISKMANAGEMENTPLATFORM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2F4F0"/>
                </a:solidFill>
              </a:rPr>
              <a:t>Благодарим за вниманието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9D2E3"/>
                </a:solidFill>
              </a:rPr>
              <a:t>Въпроси?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</a:rPr>
              <a:t>Кодът, диаграмите и докладът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2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github.com/Valioo/software-modeling-and-analysis-se-pt</a:t>
            </a:r>
            <a:endParaRPr lang="en-US" sz="18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ManagementPlatform">
  <a:themeElements>
    <a:clrScheme name="RiskManagementPlatform">
      <a:dk1>
        <a:srgbClr val="14213D"/>
      </a:dk1>
      <a:lt1>
        <a:srgbClr val="FFFFFF"/>
      </a:lt1>
      <a:dk2>
        <a:srgbClr val="3F4A5A"/>
      </a:dk2>
      <a:lt2>
        <a:srgbClr val="F3F5F2"/>
      </a:lt2>
      <a:accent1>
        <a:srgbClr val="C2410C"/>
      </a:accent1>
      <a:accent2>
        <a:srgbClr val="F59E52"/>
      </a:accent2>
      <a:accent3>
        <a:srgbClr val="1F2E52"/>
      </a:accent3>
      <a:accent4>
        <a:srgbClr val="D8DDD3"/>
      </a:accent4>
      <a:accent5>
        <a:srgbClr val="ECEFE9"/>
      </a:accent5>
      <a:accent6>
        <a:srgbClr val="5B6574"/>
      </a:accent6>
      <a:hlink>
        <a:srgbClr val="1D4ED8"/>
      </a:hlink>
      <a:folHlink>
        <a:srgbClr val="6D28D9"/>
      </a:folHlink>
    </a:clrScheme>
    <a:fontScheme name="RiskManagementPlatfor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1682</Words>
  <Application>Microsoft Office PowerPoint</Application>
  <PresentationFormat>Widescreen</PresentationFormat>
  <Paragraphs>326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RiskManagementPlatform</vt:lpstr>
      <vt:lpstr>PowerPoint Presentation</vt:lpstr>
      <vt:lpstr>Щит срещу рискови транзакции за търговците</vt:lpstr>
      <vt:lpstr>Как се оценява една транзакция</vt:lpstr>
      <vt:lpstr>Концептуален модел (Chen)</vt:lpstr>
      <vt:lpstr>Логически модел (Crow’s Foot)</vt:lpstr>
      <vt:lpstr>Логиката живее в SQL Server</vt:lpstr>
      <vt:lpstr>10 правила с тегла</vt:lpstr>
      <vt:lpstr>От точки до решение: 6 нива на риск</vt:lpstr>
      <vt:lpstr>Примерни данни: август - октомври 2026</vt:lpstr>
      <vt:lpstr>Схемата в SQL Server и как се пуска</vt:lpstr>
      <vt:lpstr>5 таблици на фактите, 11 измерения</vt:lpstr>
      <vt:lpstr>Физически модел (UML database notation)</vt:lpstr>
      <vt:lpstr>Решения в модела</vt:lpstr>
      <vt:lpstr>От базата до доклада в Tableau</vt:lpstr>
      <vt:lpstr>Транзакции по седмици и статус</vt:lpstr>
      <vt:lpstr>Най-често задействани правила</vt:lpstr>
      <vt:lpstr>Среден риск по държава на получаване</vt:lpstr>
      <vt:lpstr>Сигнали по опашки</vt:lpstr>
      <vt:lpstr>Разпределение по ниво на риск и действие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RiskManagementPlatform – курсов проект</dc:title>
  <dc:subject>PptxGenJS Presentation</dc:subject>
  <dc:creator>PptxGenJS</dc:creator>
  <cp:lastModifiedBy>Красимир Цветанов</cp:lastModifiedBy>
  <cp:revision>6</cp:revision>
  <dcterms:created xsi:type="dcterms:W3CDTF">2026-10-22T16:51:22Z</dcterms:created>
  <dcterms:modified xsi:type="dcterms:W3CDTF">2026-10-22T17:24:28Z</dcterms:modified>
</cp:coreProperties>
</file>